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Space Grotesk SemiBold"/>
      <p:regular r:id="rId23"/>
    </p:embeddedFont>
    <p:embeddedFont>
      <p:font typeface="Space Grotesk Medium"/>
      <p:regular r:id="rId24"/>
    </p:embeddedFont>
    <p:embeddedFont>
      <p:font typeface="Space Grotesk"/>
      <p:bold r:id="rId25"/>
    </p:embeddedFont>
    <p:embeddedFont>
      <p:font typeface="Inter"/>
      <p:regular r:id="rId26"/>
    </p:embeddedFont>
    <p:embeddedFont>
      <p:font typeface="Inter Medium"/>
      <p:regular r:id="rId27"/>
    </p:embeddedFont>
    <p:embeddedFont>
      <p:font typeface="Inter SemiBold"/>
      <p:regular r:id="rId28"/>
    </p:embeddedFont>
    <p:embeddedFont>
      <p:font typeface="JetBrains Mono"/>
      <p:regular r:id="rId29"/>
    </p:embeddedFont>
    <p:embeddedFont>
      <p:font typeface="JetBrains Mono Medium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PipRail = the universal x402 payment rail for AI agents. One line of code accepts or pays crypto payments across 29 chains / 10 families, straight to your wallet — no backend, no facilitator, no fee, MIT. Open standard (x402), verified live on Base mainnet. This deck: the wave (money on-chain) → the new buyer (agents) → the standard (x402) → the unsolved problem (fragmentation) → PipRail the universal adapter → product → why we win → traction → model →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 tailwind. Stablecoins settled $33T in 2025, +72% YoY (Bloomberg, Jan 2026); on raw transfer volume they passed Visa+Mastercard combined (CEX.IO — note ~70% is automated, but the direction is real). Stripe bought Bridge for $1.1B (CNBC). The US GENIUS Act made stablecoins federal law (signed Jul 2025, Senate 68–30). Visa is settling USDC live ($7B annualized run-rate); JPMorgan put its deposit token on Base; BofA, PayPal (PYUSD ~$3.8B) all in. Money is going programmable, instant, 24/7, global. Collison quote, Oct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buyer is new and it’s already huge. 98.6% of AI-agent crypto payments settle in USDC; 176M agent transactions in a year, average ticket $0.31 (Keyrock “Who Pays the Agent?”, via CoinDesk). Agentic commerce projected at $3–5T by 2030 (McKinsey). And every incumbent shipped an agent-payments product in ~14 months: Google AP2, Visa Intelligent Commerce, Mastercard Agent Pay, Stripe Agentic Commerce, PayPal. The buyer exists; it needs a 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x402 = the open standard. Coinbase published it May 2025; the Linux Foundation launched the x402 Foundation Apr 2026 with 22 founding members (Google, Microsoft, Amazon, Stripe, Visa, Mastercard, Circle, Cloudflare, Shopify, Coinbase, Amex, Solana Foundation…). Google’s AP2 (60+ partners) uses x402 as its default stablecoin rail. The handshake: request → 402 challenge (price/token/chain/payTo) → pay on-chain → retry with proof → 200. PipRail is a clean, neutral, multi-chain implementation of exactly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unsolved problem: fragmentation. 500+ chains (DeFiLlama) but the top 5 hold ~80% of value; 50% of top-10 chains can’t natively interoperate (Particle Network). Bridges — the “connect chains” layer — have lost $4B+ since 2021 (Chainalysis/Immunefi), ~40% of all crypto ever stolen. 65% of x402 volume is on Solana (Linux Foundation), so an EVM/Base-only rail (like the reference clients) misses most of it. Even Vitalik says the L2 model is broken. The winning rail must be chain-agnostic.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reveal. PipRail is a chain-abstracted x402 adapter: one parameter (chain) selects everything — token, signing scheme, proof. It’s the only x402 SDK that reaches the non-EVM world (TON, Tron, NEAR, Sui, Aptos, Algorand, Stellar, XRPL) alongside every major EVM chain + Solana: 29 chains, 10 families, one line, $0 fee. Fragmented world in → any API ⇄ any agent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works — the 402 loop, backendless. Agent calls route → 402 quote → agent pays on-chain straight to your wallet (PipRail never custodies) → you verify against your OWN RPC (amount, recipient, recency, single-use) → 200, content flows, proof can’t be replayed. No facilitator, no relayer, no database, no account, no fee. x402 v2 §7 explicitly blesses merchant-local verification, so this backendless shape is spec-supported, not a workaround.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SDK, two sides. ACCEPT: wrap any route with requirePayment({ chain, token, amount, payTo }) — Express/Next/any edge runtime, no backend. PAY: new PipRailClient({ chain, wallet }) then client.fetch(url) — on a 402 it reads the challenge, pays on-chain, waits for confirmation, retries with proof, all automatically. A spend policy (maxAmount/maxTotal/chains/tokens/hosts) refuses out-of-bounds calls before any send. One parameter — chain — picks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the distribution wedge into every AI agent. Paste one config into Claude Desktop / Cursor / Claude Code / Windsurf / VS Code / Cline, and the model gets seven budget-bound tools (discover, quote, plan, pay, register, budget, guide). The spend policy (max per-call, max total, allowed chains/tokens/hosts) is enforced BEFORE any on-chain send — the model literally cannot overspend. Runs locally with the user’s own wallet. @piprail/mcp is live on npm + the official MCP registry.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Interoperability is the moat, not a checkbox. Backendless: payer broadcasts, you verify on your own RPC — no facilitator/relayer/custody, nobody can throttle or take a cut. Standard-compliant: x402 v2 envelope, so Coinbase’s client or the open reference client can pay a PipRail gate; dual-rail advertises both onchain-proof AND the ratified exact (EIP-3009) scheme. Gasless: on EIP-3009 tokens (USDC/EURC, plus BNB FDUSD/USD1) the payer just signs — zero gas, no approval. Proven on Base mainnet, replay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visceral competitive slide. MPP (Machine Payments Protocol)’s Stripe-fronted path holds the money at every hop: agent → Stripe (custody, ~1.5% stablecoin / 2.9%+$0.30 card) → Tempo L1 (permissioned validator set: Stripe/Visa/MoneyGram/Zodia — takes a fee, a policy registry can blocklist) → Stripe balance (custody) → your bank (~T+2 days, ~1% FX). PipRail is two hops: agent’s own wallet → your own wallet, one atomic on-chain tx, 0% protocol fee, nobody in the middle, nobody who can freeze/reverse/throttle. Honest caveat (kept on-slide): this is MPP’s custodial path; MPP also defines self-custodial rails, and the Stripe % is standard Stripe pricing, not an MPP toll. The point stands: PipRail removes the custodian.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Reach. Discovery is backendless too: Emit a crawlable openapi.json on your own origin; Register on the open 402 Index (no auth/fee); Discover reads the open indexes so agents find what to pay — nothing PipRail-hosted. Integrations: OpenClaw is LIVE (clawhub install piprail — published under the @piprail org); Vercel AI SDK, Mastra, ElizaOS next. Each integration just wraps @piprail/mcp, so the agent gets all seven tools budget-bound.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moat, the “best on market” slide. Coinbase’s x402 SDK and the reference clients are Base/EVM-first and single-ecosystem. PipRail is the neutral layer across all of them. Five pillars: Universal (only truly chain-agnostic x402 SDK — incl. non-EVM), Backendless/$0-fee (chains fund it instead of fighting it — the 0% promise is the moat), Agent-native (MCP + spend policy + plan/quote/pay), Open (MIT), and Live (mainnet-proven, shipping). Nothing else combines universal + backendless + agent-native +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/ proof it’s real (honest: early but shipping fast). @piprail/sdk + @piprail/mcp live on npm (signed, tag-driven CI). 29 chains mainnet-proven (live-smoke-tested round trips + replay reject). MCP in the official registry (auto-published via OIDC, isLatest) + Glama. OpenClaw integration live on ClawHub under the @piprail org. Live payable x402 demo on piprail.com/demo (Base mainnet, listed on x402scan + 402 Index). MIT + full docs on docs.piprail.com.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= open core. The payment path is 0% forever — that’s the moat and the distribution: chains/agents/merchants adopt because there’s no toll to route around. Monetize the LAYER around the free rail, never the rail: TODAY ecosystem (chain sponsorships, grants, integration partnerships); NEXT a managed layer (hosted fleet budgets, analytics, SLAs for teams running many agents) and premium discovery/reputation built from ungameable payment receipts; POTENTIAL a network token aligning the three sides as it scales. Framing: free rail wins adoption, value accrues to the network + management layer. Charter-safe: no fee on the payment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ask. PipRail is open, neutral, live across 29 chains — raising to become the default agent settlement layer. Three ways in: Invest (fund coverage, hardening, external audit), Sponsor a chain (native driver depth on your network), Integrate &amp; partner (bring PipRail to your agents/docs/ecosystem). Contact: piprail.com · github.com/piprail · npmjs.com/package/@piprail/sdk · john.weeks.dev@gmail.com.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ohn/Sites/piprail/.claude/skills/branding/design/deck/assets/logos/logo-no-backg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572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" y="4206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" kern="0" dirty="0">
                <a:solidFill>
                  <a:srgbClr val="F4F6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PipRail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820863" y="4754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AGENT-NATIVE PAYMENTS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489808" y="1783080"/>
            <a:ext cx="5212080" cy="365760"/>
          </a:xfrm>
          <a:prstGeom prst="roundRect">
            <a:avLst>
              <a:gd name="adj" fmla="val 50000"/>
            </a:avLst>
          </a:prstGeom>
          <a:solidFill>
            <a:srgbClr val="0E1714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89808" y="177393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60" kern="0" dirty="0">
                <a:solidFill>
                  <a:srgbClr val="5EE6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OPEN x402 STANDARD   ·   VERIFIED LIVE ON MAINNET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13232" y="2395728"/>
            <a:ext cx="10765231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7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universal payment rail</a:t>
            </a:r>
            <a:endParaRPr lang="en-US" sz="4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7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for the </a:t>
            </a:r>
            <a:pPr algn="ctr" indent="0" marL="0">
              <a:lnSpc>
                <a:spcPct val="100000"/>
              </a:lnSpc>
              <a:buNone/>
            </a:pPr>
            <a:r>
              <a:rPr lang="en-US" sz="47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agent economy</a:t>
            </a:r>
            <a:pPr algn="ctr" indent="0" marL="0">
              <a:lnSpc>
                <a:spcPct val="100000"/>
              </a:lnSpc>
              <a:buNone/>
            </a:pPr>
            <a:r>
              <a:rPr lang="en-US" sz="47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.</a:t>
            </a:r>
            <a:endParaRPr lang="en-US" sz="4700" dirty="0"/>
          </a:p>
        </p:txBody>
      </p:sp>
      <p:sp>
        <p:nvSpPr>
          <p:cNvPr id="8" name="Text 5"/>
          <p:cNvSpPr/>
          <p:nvPr/>
        </p:nvSpPr>
        <p:spPr>
          <a:xfrm>
            <a:off x="1889608" y="3986784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API charges for itself. Any AI agent pays on its own.</a:t>
            </a:r>
            <a:endParaRPr lang="en-US" sz="15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line, every chain — straight to your wallet. No backend, no fee.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3232" y="4828032"/>
            <a:ext cx="1076523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29</a:t>
            </a:r>
            <a:pPr algn="ctr" indent="0" marL="0">
              <a:buNone/>
            </a:pPr>
            <a:r>
              <a:rPr lang="en-US" sz="15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chains</a:t>
            </a:r>
            <a:pPr algn="ctr" indent="0" marL="0">
              <a:buNone/>
            </a:pPr>
            <a:r>
              <a:rPr lang="en-US" sz="1500" dirty="0">
                <a:solidFill>
                  <a:srgbClr val="4C5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·     </a:t>
            </a:r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pPr algn="ctr" indent="0" marL="0">
              <a:buNone/>
            </a:pPr>
            <a:r>
              <a:rPr lang="en-US" sz="15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families</a:t>
            </a:r>
            <a:pPr algn="ctr" indent="0" marL="0">
              <a:buNone/>
            </a:pPr>
            <a:r>
              <a:rPr lang="en-US" sz="1500" dirty="0">
                <a:solidFill>
                  <a:srgbClr val="4C5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·     </a:t>
            </a:r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$0</a:t>
            </a:r>
            <a:pPr algn="ctr" indent="0" marL="0">
              <a:buNone/>
            </a:pPr>
            <a:r>
              <a:rPr lang="en-US" sz="15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fee</a:t>
            </a:r>
            <a:pPr algn="ctr" indent="0" marL="0">
              <a:buNone/>
            </a:pPr>
            <a:r>
              <a:rPr lang="en-US" sz="1500" dirty="0">
                <a:solidFill>
                  <a:srgbClr val="4C5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·     </a:t>
            </a:r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MIT</a:t>
            </a:r>
            <a:pPr algn="ctr" indent="0" marL="0">
              <a:buNone/>
            </a:pPr>
            <a:r>
              <a:rPr lang="en-US" sz="15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open source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809848" y="5321808"/>
            <a:ext cx="4572000" cy="512064"/>
          </a:xfrm>
          <a:prstGeom prst="roundRect">
            <a:avLst>
              <a:gd name="adj" fmla="val 17857"/>
            </a:avLst>
          </a:prstGeom>
          <a:solidFill>
            <a:srgbClr val="0E0F12"/>
          </a:solidFill>
          <a:ln w="12700">
            <a:solidFill>
              <a:srgbClr val="262B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09848" y="532180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5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ctr" indent="0" marL="0">
              <a:buNone/>
            </a:pPr>
            <a:r>
              <a:rPr lang="en-US" sz="1300" dirty="0">
                <a:solidFill>
                  <a:srgbClr val="C7CC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install </a:t>
            </a:r>
            <a:pPr algn="ctr" indent="0" marL="0">
              <a:buNone/>
            </a:pPr>
            <a:r>
              <a:rPr lang="en-US" sz="130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@piprail/sdk</a:t>
            </a:r>
            <a:pPr algn="ctr" indent="0" marL="0">
              <a:buNone/>
            </a:pPr>
            <a:r>
              <a:rPr lang="en-US" sz="1300" dirty="0">
                <a:solidFill>
                  <a:srgbClr val="C7CC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viem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765231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Money itself is moving </a:t>
            </a:r>
            <a:pPr algn="l" indent="0" marL="0">
              <a:lnSpc>
                <a:spcPct val="102000"/>
              </a:lnSpc>
              <a:buNone/>
            </a:pPr>
            <a:r>
              <a:rPr lang="en-US" sz="29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on-chain</a:t>
            </a:r>
            <a:pPr algn="l" indent="0" marL="0">
              <a:lnSpc>
                <a:spcPct val="102000"/>
              </a:lnSpc>
              <a:buNone/>
            </a:pPr>
            <a:r>
              <a:rPr lang="en-US" sz="29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 — at trillions of scale.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3232" y="159105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2025 stablecoins stopped being “crypto” and became settlement infrastructure. The rails the agent economy needs are already being laid — by the biggest names in finance.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2468880"/>
            <a:ext cx="2513000" cy="1865376"/>
          </a:xfrm>
          <a:prstGeom prst="roundRect">
            <a:avLst>
              <a:gd name="adj" fmla="val 539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88336"/>
            <a:ext cx="310896" cy="6400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89504"/>
            <a:ext cx="21106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spc="-30" kern="0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$33T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14400" y="3438144"/>
            <a:ext cx="2110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stablecoins settled in 2025 — up 72% YoY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950208"/>
            <a:ext cx="2110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spc="4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Bloomberg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63976" y="2468880"/>
            <a:ext cx="2513000" cy="1865376"/>
          </a:xfrm>
          <a:prstGeom prst="roundRect">
            <a:avLst>
              <a:gd name="adj" fmla="val 539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5144" y="2688336"/>
            <a:ext cx="310896" cy="6400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12" name="Text 10"/>
          <p:cNvSpPr/>
          <p:nvPr/>
        </p:nvSpPr>
        <p:spPr>
          <a:xfrm>
            <a:off x="3665144" y="2889504"/>
            <a:ext cx="21106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spc="-30" kern="0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&gt; Visa + MC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665144" y="3438144"/>
            <a:ext cx="2110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stablecoin transfer volume passed Visa + Mastercard combined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65144" y="3950208"/>
            <a:ext cx="2110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spc="4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CEX.IO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4720" y="2468880"/>
            <a:ext cx="2513000" cy="1865376"/>
          </a:xfrm>
          <a:prstGeom prst="roundRect">
            <a:avLst>
              <a:gd name="adj" fmla="val 539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5888" y="2688336"/>
            <a:ext cx="310896" cy="6400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17" name="Text 15"/>
          <p:cNvSpPr/>
          <p:nvPr/>
        </p:nvSpPr>
        <p:spPr>
          <a:xfrm>
            <a:off x="6415888" y="2889504"/>
            <a:ext cx="21106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spc="-30" kern="0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$1.1B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6415888" y="3438144"/>
            <a:ext cx="2110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Stripe paid for Bridge to own the stablecoin rails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5888" y="3950208"/>
            <a:ext cx="2110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spc="4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CNBC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65463" y="2468880"/>
            <a:ext cx="2513000" cy="1865376"/>
          </a:xfrm>
          <a:prstGeom prst="roundRect">
            <a:avLst>
              <a:gd name="adj" fmla="val 539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66631" y="2688336"/>
            <a:ext cx="310896" cy="6400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66631" y="2889504"/>
            <a:ext cx="21106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spc="-30" kern="0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GENIUS Act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166631" y="3438144"/>
            <a:ext cx="2110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first US federal stablecoin law — passed 68–30, signed 2025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66631" y="3950208"/>
            <a:ext cx="2110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spc="4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Congress.gov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3232" y="4681728"/>
            <a:ext cx="10765231" cy="1188720"/>
          </a:xfrm>
          <a:prstGeom prst="roundRect">
            <a:avLst>
              <a:gd name="adj" fmla="val 9231"/>
            </a:avLst>
          </a:prstGeom>
          <a:solidFill>
            <a:srgbClr val="0E1411"/>
          </a:solidFill>
          <a:ln w="12700">
            <a:solidFill>
              <a:srgbClr val="224134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78992" y="4882896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4F6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“Stablecoins are the room-temperature superconductors for financial services.”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735263" y="4882896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Patrick Collison
</a:t>
            </a:r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CEO, Stripe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NEW BUYER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877824"/>
            <a:ext cx="1069848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AI agents are a new economic actor — </a:t>
            </a:r>
            <a:pPr algn="l" indent="0" marL="0">
              <a:lnSpc>
                <a:spcPct val="102000"/>
              </a:lnSpc>
              <a:buNone/>
            </a:pPr>
            <a:r>
              <a:rPr lang="en-US" sz="25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and they can’t use your checkout.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1828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now earn and spend on their own — buying data, paying for compute, selling their work. They can’t sign up, hold a credit card, or click “subscribe.” The web has no way to charge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2542032"/>
            <a:ext cx="3405530" cy="1682496"/>
          </a:xfrm>
          <a:prstGeom prst="roundRect">
            <a:avLst>
              <a:gd name="adj" fmla="val 5978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7797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7797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99616" y="2798064"/>
            <a:ext cx="23996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 account, no card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3383280"/>
            <a:ext cx="296661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autonomous agent can’t verify an email or type a card number. Every human onboarding step is a dead end.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93082" y="2542032"/>
            <a:ext cx="3405530" cy="1682496"/>
          </a:xfrm>
          <a:prstGeom prst="roundRect">
            <a:avLst>
              <a:gd name="adj" fmla="val 5978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2538" y="27797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2538" y="27797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79466" y="2798064"/>
            <a:ext cx="23996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Bursty, per-call usage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2538" y="3383280"/>
            <a:ext cx="296661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make many tiny calls, unpredictably. Subscriptions and seat licences don’t fit how machines consume.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72933" y="2542032"/>
            <a:ext cx="3405530" cy="1682496"/>
          </a:xfrm>
          <a:prstGeom prst="roundRect">
            <a:avLst>
              <a:gd name="adj" fmla="val 5978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92389" y="27797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2389" y="27797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59317" y="2798064"/>
            <a:ext cx="23996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Locked to one chain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2389" y="3383280"/>
            <a:ext cx="296661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holds funds on whatever chain it runs on. A rail bound to one network can’t serve the ecosystem.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4498848"/>
            <a:ext cx="10765231" cy="1280160"/>
          </a:xfrm>
          <a:prstGeom prst="roundRect">
            <a:avLst>
              <a:gd name="adj" fmla="val 8571"/>
            </a:avLst>
          </a:prstGeom>
          <a:solidFill>
            <a:srgbClr val="101216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" y="4700016"/>
            <a:ext cx="313121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98.6%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87552" y="5266944"/>
            <a:ext cx="313121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of agent payments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settle in USDC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01642" y="4736592"/>
            <a:ext cx="0" cy="804672"/>
          </a:xfrm>
          <a:prstGeom prst="line">
            <a:avLst/>
          </a:prstGeom>
          <a:noFill/>
          <a:ln w="12700">
            <a:solidFill>
              <a:srgbClr val="2428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5962" y="4700016"/>
            <a:ext cx="313121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176M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575962" y="5266944"/>
            <a:ext cx="313121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 transactions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 12 months · avg $0.31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90053" y="4736592"/>
            <a:ext cx="0" cy="804672"/>
          </a:xfrm>
          <a:prstGeom prst="line">
            <a:avLst/>
          </a:prstGeom>
          <a:noFill/>
          <a:ln w="12700">
            <a:solidFill>
              <a:srgbClr val="2428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64373" y="4700016"/>
            <a:ext cx="313121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$3–5T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164373" y="5266944"/>
            <a:ext cx="313121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agentic commerce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by 2030 (McKinsey)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STANDARD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whole industry is converging on one protocol: </a:t>
            </a:r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x402</a:t>
            </a:r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Coinbase revived HTTP’s dormant “402 Payment Required” as a machine-native payment standard — then donated it to the Linux Foundation. It’s the neutral rail the agent economy is standardizing on. It’s what PipRail speaks.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2331720"/>
            <a:ext cx="5029200" cy="3611880"/>
          </a:xfrm>
          <a:prstGeom prst="roundRect">
            <a:avLst>
              <a:gd name="adj" fmla="val 3038"/>
            </a:avLst>
          </a:prstGeom>
          <a:solidFill>
            <a:srgbClr val="0E0F12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2606040"/>
            <a:ext cx="4407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6B717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402 HANDSHAKE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24128" y="3191256"/>
            <a:ext cx="713232" cy="402336"/>
          </a:xfrm>
          <a:prstGeom prst="roundRect">
            <a:avLst>
              <a:gd name="adj" fmla="val 20455"/>
            </a:avLst>
          </a:prstGeom>
          <a:solidFill>
            <a:srgbClr val="0E1216"/>
          </a:solidFill>
          <a:ln w="12700">
            <a:solidFill>
              <a:srgbClr val="2A30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319125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B7F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83664" y="31546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7CC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/report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requests a paid resource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24128" y="3867912"/>
            <a:ext cx="713232" cy="402336"/>
          </a:xfrm>
          <a:prstGeom prst="roundRect">
            <a:avLst>
              <a:gd name="adj" fmla="val 20455"/>
            </a:avLst>
          </a:prstGeom>
          <a:solidFill>
            <a:srgbClr val="0E1216"/>
          </a:solidFill>
          <a:ln w="12700">
            <a:solidFill>
              <a:srgbClr val="2A30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386791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C5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402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883664" y="383133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7CC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Payment Required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returns price · token · chain · payTo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24128" y="4544568"/>
            <a:ext cx="713232" cy="402336"/>
          </a:xfrm>
          <a:prstGeom prst="roundRect">
            <a:avLst>
              <a:gd name="adj" fmla="val 20455"/>
            </a:avLst>
          </a:prstGeom>
          <a:solidFill>
            <a:srgbClr val="0E1216"/>
          </a:solidFill>
          <a:ln w="12700">
            <a:solidFill>
              <a:srgbClr val="2A30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45445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83664" y="450799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7CC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on-chain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pays — straight to the wallet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24128" y="5221224"/>
            <a:ext cx="713232" cy="402336"/>
          </a:xfrm>
          <a:prstGeom prst="roundRect">
            <a:avLst>
              <a:gd name="adj" fmla="val 20455"/>
            </a:avLst>
          </a:prstGeom>
          <a:solidFill>
            <a:srgbClr val="0E1216"/>
          </a:solidFill>
          <a:ln w="12700">
            <a:solidFill>
              <a:srgbClr val="2A30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52212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883664" y="518464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7CC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OK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retry with proof · content flows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9632" y="2331720"/>
            <a:ext cx="5278831" cy="2468880"/>
          </a:xfrm>
          <a:prstGeom prst="roundRect">
            <a:avLst>
              <a:gd name="adj" fmla="val 4074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26060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spc="-150" kern="0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7955280" y="2715768"/>
            <a:ext cx="32305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founding members steward x402 under the Linux Foundation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3648456"/>
            <a:ext cx="4693615" cy="0"/>
          </a:xfrm>
          <a:prstGeom prst="line">
            <a:avLst/>
          </a:prstGeom>
          <a:noFill/>
          <a:ln w="12700">
            <a:solidFill>
              <a:srgbClr val="2428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776472"/>
            <a:ext cx="46936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B717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STEWARDED BY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4050792"/>
            <a:ext cx="4693615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Google · Microsoft · Amazon · Stripe · Visa · Mastercard · Circle · Cloudflare · Shopify · Coinbase · American Express · Solana Foundation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99632" y="5001768"/>
            <a:ext cx="5278831" cy="941832"/>
          </a:xfrm>
          <a:prstGeom prst="roundRect">
            <a:avLst>
              <a:gd name="adj" fmla="val 10680"/>
            </a:avLst>
          </a:prstGeom>
          <a:solidFill>
            <a:srgbClr val="0E1411"/>
          </a:solidFill>
          <a:ln w="12700">
            <a:solidFill>
              <a:srgbClr val="224134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10528" y="5001768"/>
            <a:ext cx="4657039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Google’s AP2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x402 as its default stablecoin rail — 60+ launch partners.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CATCH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But the money is </a:t>
            </a:r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scattered across hundreds of chains</a:t>
            </a:r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 that don’t talk to each other.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17556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holds funds on whatever chain it runs on. A rail bound to one network reaches only a slice of them — and bridging between chains is the single most-exploited thing in crypto.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2596896"/>
            <a:ext cx="2513000" cy="1755648"/>
          </a:xfrm>
          <a:prstGeom prst="roundRect">
            <a:avLst>
              <a:gd name="adj" fmla="val 5729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816352"/>
            <a:ext cx="310896" cy="6400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21106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spc="-30" kern="0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500+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10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live blockchains — yet the top 5 hold ~80% of the money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078224"/>
            <a:ext cx="2110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spc="4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DeFiLlama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63976" y="2596896"/>
            <a:ext cx="2513000" cy="1755648"/>
          </a:xfrm>
          <a:prstGeom prst="roundRect">
            <a:avLst>
              <a:gd name="adj" fmla="val 5729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5144" y="2816352"/>
            <a:ext cx="310896" cy="6400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12" name="Text 10"/>
          <p:cNvSpPr/>
          <p:nvPr/>
        </p:nvSpPr>
        <p:spPr>
          <a:xfrm>
            <a:off x="3665144" y="3017520"/>
            <a:ext cx="21106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spc="-30" kern="0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50%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3665144" y="3566160"/>
            <a:ext cx="2110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of the top-10 chains can’t natively talk to each other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65144" y="4078224"/>
            <a:ext cx="2110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spc="4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Particle Network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4720" y="2596896"/>
            <a:ext cx="2513000" cy="1755648"/>
          </a:xfrm>
          <a:prstGeom prst="roundRect">
            <a:avLst>
              <a:gd name="adj" fmla="val 5729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5888" y="2816352"/>
            <a:ext cx="310896" cy="6400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17" name="Text 15"/>
          <p:cNvSpPr/>
          <p:nvPr/>
        </p:nvSpPr>
        <p:spPr>
          <a:xfrm>
            <a:off x="6415888" y="3017520"/>
            <a:ext cx="21106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spc="-30" kern="0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$4B+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6415888" y="3566160"/>
            <a:ext cx="2110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stolen through cross-chain bridges since 2021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5888" y="4078224"/>
            <a:ext cx="2110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spc="4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Chainalysis · Immunefi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65463" y="2596896"/>
            <a:ext cx="2513000" cy="1755648"/>
          </a:xfrm>
          <a:prstGeom prst="roundRect">
            <a:avLst>
              <a:gd name="adj" fmla="val 5729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66631" y="2816352"/>
            <a:ext cx="310896" cy="6400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66631" y="3017520"/>
            <a:ext cx="21106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spc="-30" kern="0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65%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9166631" y="3566160"/>
            <a:ext cx="2110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of x402 volume is on Solana — an EVM-only rail misses 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66631" y="4078224"/>
            <a:ext cx="2110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spc="4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Linux Foundation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3232" y="4700016"/>
            <a:ext cx="10765231" cy="1170432"/>
          </a:xfrm>
          <a:prstGeom prst="roundRect">
            <a:avLst>
              <a:gd name="adj" fmla="val 9375"/>
            </a:avLst>
          </a:prstGeom>
          <a:solidFill>
            <a:srgbClr val="0E1411"/>
          </a:solidFill>
          <a:ln w="12700">
            <a:solidFill>
              <a:srgbClr val="224134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78992" y="4901184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4F6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“The original vision of L2 and its role within Ethereum no longer makes sense.”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735263" y="4901184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Vitalik Buterin
</a:t>
            </a:r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co-founder, Ethereum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FIX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765231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PipRail is the universal adapter. </a:t>
            </a:r>
            <a:pPr algn="ctr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One line pays every chain.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13232" y="2212848"/>
            <a:ext cx="3200400" cy="2487168"/>
          </a:xfrm>
          <a:prstGeom prst="roundRect">
            <a:avLst>
              <a:gd name="adj" fmla="val 441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B717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FRAGMENTED WORLD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2798064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</p:spPr>
      </p:sp>
      <p:pic>
        <p:nvPicPr>
          <p:cNvPr id="7" name="Image 0" descr="/Users/john/Sites/piprail/.claude/skills/branding/design/deck/assets/logos/ethere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907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29968" y="2798064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</p:spPr>
      </p:sp>
      <p:pic>
        <p:nvPicPr>
          <p:cNvPr id="9" name="Image 1" descr="/Users/john/Sites/piprail/.claude/skills/branding/design/deck/assets/logos/solan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6" y="2907792"/>
            <a:ext cx="347472" cy="3474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054096" y="2798064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</p:spPr>
      </p:sp>
      <p:pic>
        <p:nvPicPr>
          <p:cNvPr id="11" name="Image 2" descr="/Users/john/Sites/piprail/.claude/skills/branding/design/deck/assets/logos/bn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2907792"/>
            <a:ext cx="347472" cy="34747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005840" y="3529584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</p:spPr>
      </p:sp>
      <p:pic>
        <p:nvPicPr>
          <p:cNvPr id="13" name="Image 3" descr="/Users/john/Sites/piprail/.claude/skills/branding/design/deck/assets/logos/xrp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639312"/>
            <a:ext cx="347472" cy="34747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029968" y="3529584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</p:spPr>
      </p:sp>
      <p:pic>
        <p:nvPicPr>
          <p:cNvPr id="15" name="Image 4" descr="/Users/john/Sites/piprail/.claude/skills/branding/design/deck/assets/logos/tr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9696" y="3639312"/>
            <a:ext cx="347472" cy="34747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054096" y="3529584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</p:spPr>
      </p:sp>
      <p:pic>
        <p:nvPicPr>
          <p:cNvPr id="17" name="Image 5" descr="/Users/john/Sites/piprail/.claude/skills/branding/design/deck/assets/logos/stell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3824" y="3639312"/>
            <a:ext cx="347472" cy="34747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87552" y="4206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chains — each its own tokens, signing &amp; gas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4541368" y="2212848"/>
            <a:ext cx="3108960" cy="2487168"/>
          </a:xfrm>
          <a:prstGeom prst="roundRect">
            <a:avLst>
              <a:gd name="adj" fmla="val 5147"/>
            </a:avLst>
          </a:prstGeom>
          <a:solidFill>
            <a:srgbClr val="0C1611"/>
          </a:solidFill>
          <a:ln w="12700">
            <a:solidFill>
              <a:srgbClr val="2E5A48"/>
            </a:solidFill>
            <a:prstDash val="solid"/>
          </a:ln>
          <a:effectLst>
            <a:outerShdw sx="100000" sy="100000" kx="0" ky="0" algn="bl" rotWithShape="0" blurRad="330200" dist="50800" dir="5400000">
              <a:srgbClr val="2EE6A6">
                <a:alpha val="50000"/>
              </a:srgbClr>
            </a:outerShdw>
          </a:effectLst>
        </p:spPr>
      </p:sp>
      <p:pic>
        <p:nvPicPr>
          <p:cNvPr id="20" name="Image 6" descr="/Users/john/Sites/piprail/.claude/skills/branding/design/deck/assets/logos/logo-no-backgroun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2656" y="2670048"/>
            <a:ext cx="786384" cy="78638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541368" y="35478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F6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PipRail</a:t>
            </a:r>
            <a:endParaRPr lang="en-US" sz="2300" dirty="0"/>
          </a:p>
        </p:txBody>
      </p:sp>
      <p:sp>
        <p:nvSpPr>
          <p:cNvPr id="22" name="Text 13"/>
          <p:cNvSpPr/>
          <p:nvPr/>
        </p:nvSpPr>
        <p:spPr>
          <a:xfrm>
            <a:off x="4541368" y="40599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2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ONE ADAPTER · ONE LINE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4541368" y="43342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the token, signing &amp; proof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8278063" y="2212848"/>
            <a:ext cx="3200400" cy="2487168"/>
          </a:xfrm>
          <a:prstGeom prst="roundRect">
            <a:avLst>
              <a:gd name="adj" fmla="val 441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5" name="Text 16"/>
          <p:cNvSpPr/>
          <p:nvPr/>
        </p:nvSpPr>
        <p:spPr>
          <a:xfrm>
            <a:off x="8552383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PAYOFF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8662111" y="3182112"/>
            <a:ext cx="1133856" cy="493776"/>
          </a:xfrm>
          <a:prstGeom prst="roundRect">
            <a:avLst>
              <a:gd name="adj" fmla="val 16667"/>
            </a:avLst>
          </a:prstGeom>
          <a:solidFill>
            <a:srgbClr val="15181C"/>
          </a:solidFill>
          <a:ln w="12700">
            <a:solidFill>
              <a:srgbClr val="2E343A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8698687" y="3182112"/>
            <a:ext cx="10607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6F7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Any API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9832543" y="3182112"/>
            <a:ext cx="4023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⇄</a:t>
            </a:r>
            <a:endParaRPr lang="en-US" sz="1800" dirty="0"/>
          </a:p>
        </p:txBody>
      </p:sp>
      <p:sp>
        <p:nvSpPr>
          <p:cNvPr id="29" name="Shape 20"/>
          <p:cNvSpPr/>
          <p:nvPr/>
        </p:nvSpPr>
        <p:spPr>
          <a:xfrm>
            <a:off x="10271455" y="3182112"/>
            <a:ext cx="1243584" cy="493776"/>
          </a:xfrm>
          <a:prstGeom prst="roundRect">
            <a:avLst>
              <a:gd name="adj" fmla="val 16667"/>
            </a:avLst>
          </a:prstGeom>
          <a:solidFill>
            <a:srgbClr val="15181C"/>
          </a:solidFill>
          <a:ln w="12700">
            <a:solidFill>
              <a:srgbClr val="2E343A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10308031" y="3182112"/>
            <a:ext cx="1170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6F7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Any agent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8552383" y="416966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charges for itself · pays on its own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3913632" y="3182112"/>
            <a:ext cx="627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Text 24"/>
          <p:cNvSpPr/>
          <p:nvPr/>
        </p:nvSpPr>
        <p:spPr>
          <a:xfrm>
            <a:off x="7650328" y="3182112"/>
            <a:ext cx="627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Text 25"/>
          <p:cNvSpPr/>
          <p:nvPr/>
        </p:nvSpPr>
        <p:spPr>
          <a:xfrm>
            <a:off x="1158088" y="4992624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7CC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a chain — PipRail handles the token, the signing and the proof. The only SDK that reaches the non-EVM world (TON · NEAR · Sui · Aptos · Algorand · Stellar · XRPL) alongside every major EVM chain and Solana.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713232" y="5943600"/>
            <a:ext cx="1076523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29</a:t>
            </a:r>
            <a:pPr algn="ctr" indent="0" marL="0">
              <a:buNone/>
            </a:pPr>
            <a:r>
              <a:rPr lang="en-US" sz="145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chains</a:t>
            </a:r>
            <a:pPr algn="ctr" indent="0" marL="0">
              <a:buNone/>
            </a:pPr>
            <a:r>
              <a:rPr lang="en-US" sz="1450" dirty="0">
                <a:solidFill>
                  <a:srgbClr val="4C5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·     </a:t>
            </a:r>
            <a:pPr algn="ctr" indent="0" marL="0">
              <a:buNone/>
            </a:pPr>
            <a:r>
              <a:rPr lang="en-US" sz="145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pPr algn="ctr" indent="0" marL="0">
              <a:buNone/>
            </a:pPr>
            <a:r>
              <a:rPr lang="en-US" sz="145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families</a:t>
            </a:r>
            <a:pPr algn="ctr" indent="0" marL="0">
              <a:buNone/>
            </a:pPr>
            <a:r>
              <a:rPr lang="en-US" sz="1450" dirty="0">
                <a:solidFill>
                  <a:srgbClr val="4C5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·     </a:t>
            </a:r>
            <a:pPr algn="ctr" indent="0" marL="0">
              <a:buNone/>
            </a:pPr>
            <a:r>
              <a:rPr lang="en-US" sz="145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pPr algn="ctr" indent="0" marL="0">
              <a:buNone/>
            </a:pPr>
            <a:r>
              <a:rPr lang="en-US" sz="145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line</a:t>
            </a:r>
            <a:pPr algn="ctr" indent="0" marL="0">
              <a:buNone/>
            </a:pPr>
            <a:r>
              <a:rPr lang="en-US" sz="1450" dirty="0">
                <a:solidFill>
                  <a:srgbClr val="4C5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·     </a:t>
            </a:r>
            <a:pPr algn="ctr" indent="0" marL="0">
              <a:buNone/>
            </a:pPr>
            <a:r>
              <a:rPr lang="en-US" sz="145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$0</a:t>
            </a:r>
            <a:pPr algn="ctr" indent="0" marL="0">
              <a:buNone/>
            </a:pPr>
            <a:r>
              <a:rPr lang="en-US" sz="145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fee</a:t>
            </a:r>
            <a:endParaRPr lang="en-US" sz="1450" dirty="0"/>
          </a:p>
        </p:txBody>
      </p:sp>
      <p:sp>
        <p:nvSpPr>
          <p:cNvPr id="36" name="Text 27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 four-step round trip over plain HTTP. </a:t>
            </a:r>
            <a:pPr algn="l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No middleman.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3232" y="159105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PipRail is a tool you npm install, not a service you sign up for. Nothing sits between the payer and your wallet.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2340864"/>
            <a:ext cx="2513000" cy="2084832"/>
          </a:xfrm>
          <a:prstGeom prst="roundRect">
            <a:avLst>
              <a:gd name="adj" fmla="val 4386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237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EE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44368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Agent calls your route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346704"/>
            <a:ext cx="2110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gets back a 402 quote: price, token, recipient, chain.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463976" y="2340864"/>
            <a:ext cx="2513000" cy="2084832"/>
          </a:xfrm>
          <a:prstGeom prst="roundRect">
            <a:avLst>
              <a:gd name="adj" fmla="val 4386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65144" y="25237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EE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65144" y="2944368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Agent pays on-chain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65144" y="3346704"/>
            <a:ext cx="2110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transfer, straight to your wallet. PipRail never touches the funds.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14720" y="2340864"/>
            <a:ext cx="2513000" cy="2084832"/>
          </a:xfrm>
          <a:prstGeom prst="roundRect">
            <a:avLst>
              <a:gd name="adj" fmla="val 4386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5888" y="25237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EE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5888" y="2944368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You verify locally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15888" y="3346704"/>
            <a:ext cx="2110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against your own RPC: right amount, recipient, recent, unspent.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965463" y="2340864"/>
            <a:ext cx="2513000" cy="2084832"/>
          </a:xfrm>
          <a:prstGeom prst="roundRect">
            <a:avLst>
              <a:gd name="adj" fmla="val 4386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66631" y="25237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EE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66631" y="2944368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You return the data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66631" y="3346704"/>
            <a:ext cx="2110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OK — and the same proof can never be spent twice.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13232" y="4736592"/>
            <a:ext cx="10765231" cy="1097280"/>
          </a:xfrm>
          <a:prstGeom prst="roundRect">
            <a:avLst>
              <a:gd name="adj" fmla="val 10000"/>
            </a:avLst>
          </a:prstGeom>
          <a:solidFill>
            <a:srgbClr val="101216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24128" y="4919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 TOOL, NOT A PLATFORM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5285232"/>
            <a:ext cx="23529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C7D5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✕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7CC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hosted facilitator or relayer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59988" y="5285232"/>
            <a:ext cx="23529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C7D5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✕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7CC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database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95848" y="5285232"/>
            <a:ext cx="23529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C7D5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✕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7CC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account or API key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31707" y="5285232"/>
            <a:ext cx="23529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C7D5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✕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7CC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monthly or protocol fee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SDK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Two sides, </a:t>
            </a:r>
            <a:pPr algn="l" indent="0" marL="0">
              <a:lnSpc>
                <a:spcPct val="102000"/>
              </a:lnSpc>
              <a:buNone/>
            </a:pPr>
            <a:r>
              <a:rPr lang="en-US" sz="29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one SDK.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3232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package lets a server charge an agent for a route — and an agent pay for one. A couple of lines each.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515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E6A6"/>
                </a:solidFill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ACCEPT</a:t>
            </a:r>
            <a:pPr indent="0" marL="0">
              <a:buNone/>
            </a:pPr>
            <a:r>
              <a:rPr lang="en-US" sz="12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charge an agent for any endpoint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2304288"/>
            <a:ext cx="5154016" cy="3346704"/>
          </a:xfrm>
          <a:prstGeom prst="roundRect">
            <a:avLst>
              <a:gd name="adj" fmla="val 2732"/>
            </a:avLst>
          </a:prstGeom>
          <a:solidFill>
            <a:srgbClr val="0E0F12"/>
          </a:solidFill>
          <a:ln w="12700">
            <a:solidFill>
              <a:srgbClr val="202428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304288"/>
            <a:ext cx="5154016" cy="384048"/>
          </a:xfrm>
          <a:prstGeom prst="rect">
            <a:avLst/>
          </a:prstGeom>
          <a:solidFill>
            <a:srgbClr val="141619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505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" y="24505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353312" y="24505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1810512" y="2304288"/>
            <a:ext cx="2959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server.ts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2816352"/>
            <a:ext cx="4605376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B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requirePayment }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B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from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FE3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'@piprail/sdk'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FB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FE3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'/report'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FB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requirePayment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({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chain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6C5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'base'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token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FE3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'USDC'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amount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0A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'0.05'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payTo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}),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handler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24448" y="1920240"/>
            <a:ext cx="515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E6A6"/>
                </a:solidFill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PAY</a:t>
            </a:r>
            <a:pPr indent="0" marL="0">
              <a:buNone/>
            </a:pPr>
            <a:r>
              <a:rPr lang="en-US" sz="12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let an agent pay for itself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24448" y="2304288"/>
            <a:ext cx="5154016" cy="3346704"/>
          </a:xfrm>
          <a:prstGeom prst="roundRect">
            <a:avLst>
              <a:gd name="adj" fmla="val 2732"/>
            </a:avLst>
          </a:prstGeom>
          <a:solidFill>
            <a:srgbClr val="0E0F12"/>
          </a:solidFill>
          <a:ln w="12700">
            <a:solidFill>
              <a:srgbClr val="202428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24448" y="2304288"/>
            <a:ext cx="5154016" cy="384048"/>
          </a:xfrm>
          <a:prstGeom prst="rect">
            <a:avLst/>
          </a:prstGeom>
          <a:solidFill>
            <a:srgbClr val="141619"/>
          </a:solidFill>
          <a:ln/>
        </p:spPr>
      </p:sp>
      <p:sp>
        <p:nvSpPr>
          <p:cNvPr id="16" name="Shape 14"/>
          <p:cNvSpPr/>
          <p:nvPr/>
        </p:nvSpPr>
        <p:spPr>
          <a:xfrm>
            <a:off x="6525616" y="24505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745072" y="24505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964528" y="24505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7421728" y="2304288"/>
            <a:ext cx="2959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agent.ts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17056" y="2816352"/>
            <a:ext cx="4605376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B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PipRailClient }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B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from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FE3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'@piprail/sdk'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B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B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FB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PipRailClient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({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chain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6C5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'bnb'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wallet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 privateKey },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95F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on a 402: pays, then retries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B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B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client.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FB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fetch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(url)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@PIPRAIL/MCP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Give your AI agent </a:t>
            </a:r>
            <a:pPr algn="l" indent="0" marL="0">
              <a:lnSpc>
                <a:spcPct val="102000"/>
              </a:lnSpc>
              <a:buNone/>
            </a:pPr>
            <a:r>
              <a:rPr lang="en-US" sz="29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 wallet.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3232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one config block and Claude, Cursor, or any MCP client pays x402 APIs on its own — capped by a spend policy it cannot exceed. No code, no backend, no custody.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2395728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0E0F12"/>
          </a:solidFill>
          <a:ln w="12700">
            <a:solidFill>
              <a:srgbClr val="202428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395728"/>
            <a:ext cx="5029200" cy="384048"/>
          </a:xfrm>
          <a:prstGeom prst="rect">
            <a:avLst/>
          </a:prstGeom>
          <a:solidFill>
            <a:srgbClr val="141619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5420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25420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353312" y="25420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23957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claude_desktop_config.json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2907792"/>
            <a:ext cx="448056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FB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"mcpServers"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7FE3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"piprail"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"command"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7FE3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"npx"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"args"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[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7FE3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"-y", "@piprail/mcp"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],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"env"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"PIPRAIL_CHAIN"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6C5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"bnb"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D6DB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"PIPRAIL_MAX_AMOUNT"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0A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"0.10"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}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09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99632" y="2414016"/>
            <a:ext cx="52788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6B717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SEVEN TOOLS YOUR AGENT GETS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99632" y="2779776"/>
            <a:ext cx="5278831" cy="399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◆ </a:t>
            </a:r>
            <a:pPr indent="0" marL="0">
              <a:buNone/>
            </a:pPr>
            <a:r>
              <a:rPr lang="en-US" sz="1120" dirty="0">
                <a:solidFill>
                  <a:srgbClr val="F4F6F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piprail_discover</a:t>
            </a:r>
            <a:pPr indent="0" marL="0">
              <a:buNone/>
            </a:pPr>
            <a:r>
              <a:rPr lang="en-US" sz="112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find payable APIs on the open indexes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199632" y="3179499"/>
            <a:ext cx="5278831" cy="0"/>
          </a:xfrm>
          <a:prstGeom prst="line">
            <a:avLst/>
          </a:prstGeom>
          <a:noFill/>
          <a:ln w="12700">
            <a:solidFill>
              <a:srgbClr val="1A1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3179499"/>
            <a:ext cx="5278831" cy="399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◆ </a:t>
            </a:r>
            <a:pPr indent="0" marL="0">
              <a:buNone/>
            </a:pPr>
            <a:r>
              <a:rPr lang="en-US" sz="1120" dirty="0">
                <a:solidFill>
                  <a:srgbClr val="F4F6F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piprail_quote</a:t>
            </a:r>
            <a:pPr indent="0" marL="0">
              <a:buNone/>
            </a:pPr>
            <a:r>
              <a:rPr lang="en-US" sz="112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price a gated URL — without paying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199632" y="3579223"/>
            <a:ext cx="5278831" cy="0"/>
          </a:xfrm>
          <a:prstGeom prst="line">
            <a:avLst/>
          </a:prstGeom>
          <a:noFill/>
          <a:ln w="12700">
            <a:solidFill>
              <a:srgbClr val="1A1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3579223"/>
            <a:ext cx="5278831" cy="399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◆ </a:t>
            </a:r>
            <a:pPr indent="0" marL="0">
              <a:buNone/>
            </a:pPr>
            <a:r>
              <a:rPr lang="en-US" sz="1120" dirty="0">
                <a:solidFill>
                  <a:srgbClr val="F4F6F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piprail_plan</a:t>
            </a:r>
            <a:pPr indent="0" marL="0">
              <a:buNone/>
            </a:pPr>
            <a:r>
              <a:rPr lang="en-US" sz="112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check balance, gas &amp; recipient readiness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199632" y="3978946"/>
            <a:ext cx="5278831" cy="0"/>
          </a:xfrm>
          <a:prstGeom prst="line">
            <a:avLst/>
          </a:prstGeom>
          <a:noFill/>
          <a:ln w="12700">
            <a:solidFill>
              <a:srgbClr val="1A1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3978946"/>
            <a:ext cx="5278831" cy="399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◆ </a:t>
            </a:r>
            <a:pPr indent="0" marL="0">
              <a:buNone/>
            </a:pPr>
            <a:r>
              <a:rPr lang="en-US" sz="1120" dirty="0">
                <a:solidFill>
                  <a:srgbClr val="F4F6F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piprail_pay</a:t>
            </a:r>
            <a:pPr indent="0" marL="0">
              <a:buNone/>
            </a:pPr>
            <a:r>
              <a:rPr lang="en-US" sz="112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fetch it, paying the 402 automatically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199632" y="4378670"/>
            <a:ext cx="5278831" cy="0"/>
          </a:xfrm>
          <a:prstGeom prst="line">
            <a:avLst/>
          </a:prstGeom>
          <a:noFill/>
          <a:ln w="12700">
            <a:solidFill>
              <a:srgbClr val="1A1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4378670"/>
            <a:ext cx="5278831" cy="399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◆ </a:t>
            </a:r>
            <a:pPr indent="0" marL="0">
              <a:buNone/>
            </a:pPr>
            <a:r>
              <a:rPr lang="en-US" sz="1120" dirty="0">
                <a:solidFill>
                  <a:srgbClr val="F4F6F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piprail_register</a:t>
            </a:r>
            <a:pPr indent="0" marL="0">
              <a:buNone/>
            </a:pPr>
            <a:r>
              <a:rPr lang="en-US" sz="112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list an endpoint so other agents find it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199632" y="4778393"/>
            <a:ext cx="5278831" cy="0"/>
          </a:xfrm>
          <a:prstGeom prst="line">
            <a:avLst/>
          </a:prstGeom>
          <a:noFill/>
          <a:ln w="12700">
            <a:solidFill>
              <a:srgbClr val="1A1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4778393"/>
            <a:ext cx="5278831" cy="399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◆ </a:t>
            </a:r>
            <a:pPr indent="0" marL="0">
              <a:buNone/>
            </a:pPr>
            <a:r>
              <a:rPr lang="en-US" sz="1120" dirty="0">
                <a:solidFill>
                  <a:srgbClr val="F4F6F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piprail_budget</a:t>
            </a:r>
            <a:pPr indent="0" marL="0">
              <a:buNone/>
            </a:pPr>
            <a:r>
              <a:rPr lang="en-US" sz="112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read the remaining spend + time leash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199632" y="5178117"/>
            <a:ext cx="5278831" cy="0"/>
          </a:xfrm>
          <a:prstGeom prst="line">
            <a:avLst/>
          </a:prstGeom>
          <a:noFill/>
          <a:ln w="12700">
            <a:solidFill>
              <a:srgbClr val="1A1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5178117"/>
            <a:ext cx="5278831" cy="399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◆ </a:t>
            </a:r>
            <a:pPr indent="0" marL="0">
              <a:buNone/>
            </a:pPr>
            <a:r>
              <a:rPr lang="en-US" sz="1120" dirty="0">
                <a:solidFill>
                  <a:srgbClr val="F4F6F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piprail_guide</a:t>
            </a:r>
            <a:pPr indent="0" marL="0">
              <a:buNone/>
            </a:pPr>
            <a:r>
              <a:rPr lang="en-US" sz="112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the agent contract: how to quote, plan, pay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INTEROPERABLE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Open standard. No middleman. </a:t>
            </a:r>
            <a:pPr algn="l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Anyone can pay you.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3232" y="159105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Funds settle to your wallet, verified against your own RPC. Nobody can rate-limit you, take a cut, or shut you off — yet any x402 client in the world can still pay your gate.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2487168"/>
            <a:ext cx="3405530" cy="2249424"/>
          </a:xfrm>
          <a:prstGeom prst="roundRect">
            <a:avLst>
              <a:gd name="adj" fmla="val 447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7249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99616" y="2743200"/>
            <a:ext cx="23996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Nobody in the middle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3328416"/>
            <a:ext cx="296661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facilitator, no relayer, no custody. The payer broadcasts their own transfer; you verify against your own RPC. No one can take a cut or switch you off.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93082" y="2487168"/>
            <a:ext cx="3405530" cy="2249424"/>
          </a:xfrm>
          <a:prstGeom prst="roundRect">
            <a:avLst>
              <a:gd name="adj" fmla="val 447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2538" y="27249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2538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79466" y="2743200"/>
            <a:ext cx="23996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Speaks the standard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2538" y="3328416"/>
            <a:ext cx="296661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PipRail’s envelope is x402 v2-conformant — so any x402 client, Coinbase’s or the reference client, can pay your gate. Proven on Base mainnet.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72933" y="2487168"/>
            <a:ext cx="3405530" cy="2249424"/>
          </a:xfrm>
          <a:prstGeom prst="roundRect">
            <a:avLst>
              <a:gd name="adj" fmla="val 447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92389" y="27249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2389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59317" y="2743200"/>
            <a:ext cx="23996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One gate, both rails — gasless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2389" y="3328416"/>
            <a:ext cx="296661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Advertise the backendless onchain-proof rail and the ratified exact (EIP-3009) rail at once. On USDC the payer just signs: zero gas, no approval.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5029200"/>
            <a:ext cx="10765231" cy="749808"/>
          </a:xfrm>
          <a:prstGeom prst="roundRect">
            <a:avLst>
              <a:gd name="adj" fmla="val 12195"/>
            </a:avLst>
          </a:prstGeom>
          <a:solidFill>
            <a:srgbClr val="0E1411"/>
          </a:solidFill>
          <a:ln w="12700">
            <a:solidFill>
              <a:srgbClr val="224134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24128" y="5029200"/>
            <a:ext cx="101434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  Verified end-to-end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CC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against the official x402 reference client on Base mainnet — a real 402 → pay → confirm → verify → 200 round trip, with replay rejected.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DIFFERENCE · COUNT THE MIDDLEMEN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MPP routes through middlemen. </a:t>
            </a:r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PipRail routes through none.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agent payment, two ways. The custodial path (MPP via Stripe + Tempo) is held, fee’d and delayed at every hop. PipRail is one transfer — agent’s wallet straight to yours.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2304288"/>
            <a:ext cx="5154016" cy="3456432"/>
          </a:xfrm>
          <a:prstGeom prst="roundRect">
            <a:avLst>
              <a:gd name="adj" fmla="val 3439"/>
            </a:avLst>
          </a:prstGeom>
          <a:solidFill>
            <a:srgbClr val="0E0F12"/>
          </a:solidFill>
          <a:ln w="12700">
            <a:solidFill>
              <a:srgbClr val="4E3F22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2542032"/>
            <a:ext cx="2011680" cy="310896"/>
          </a:xfrm>
          <a:prstGeom prst="roundRect">
            <a:avLst>
              <a:gd name="adj" fmla="val 26471"/>
            </a:avLst>
          </a:prstGeom>
          <a:solidFill>
            <a:srgbClr val="14100A"/>
          </a:solidFill>
          <a:ln w="12700">
            <a:solidFill>
              <a:srgbClr val="4E3F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54203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A64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CUSTODIAL PATH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38448" y="2542032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14100A"/>
          </a:solidFill>
          <a:ln w="12700">
            <a:solidFill>
              <a:srgbClr val="4E3F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38448" y="253746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E6A64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 IN THE PATH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7552" y="2962656"/>
            <a:ext cx="460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MPP</a:t>
            </a:r>
            <a:pPr indent="0" marL="0">
              <a:buNone/>
            </a:pPr>
            <a:r>
              <a:rPr lang="en-US" sz="14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Stripe + Tempo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3232" y="3383280"/>
            <a:ext cx="5154016" cy="310896"/>
          </a:xfrm>
          <a:prstGeom prst="roundRect">
            <a:avLst>
              <a:gd name="adj" fmla="val 23529"/>
            </a:avLst>
          </a:prstGeom>
          <a:solidFill>
            <a:srgbClr val="15181C"/>
          </a:solidFill>
          <a:ln w="12700">
            <a:solidFill>
              <a:srgbClr val="2E34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" y="34290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A1E22"/>
          </a:solidFill>
          <a:ln w="12700">
            <a:solidFill>
              <a:srgbClr val="2E3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4290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C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70432" y="3383280"/>
            <a:ext cx="456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Agent pays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a card / Stripe-linked wallet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3739896"/>
            <a:ext cx="5154016" cy="310896"/>
          </a:xfrm>
          <a:prstGeom prst="roundRect">
            <a:avLst>
              <a:gd name="adj" fmla="val 23529"/>
            </a:avLst>
          </a:prstGeom>
          <a:solidFill>
            <a:srgbClr val="14100A"/>
          </a:solidFill>
          <a:ln w="12700">
            <a:solidFill>
              <a:srgbClr val="4E3F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" y="378561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41B0C"/>
          </a:solidFill>
          <a:ln w="12700">
            <a:solidFill>
              <a:srgbClr val="4E3F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37856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A64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70432" y="3739896"/>
            <a:ext cx="456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Stripe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charges · custody begins · ~1.5% 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" y="4096512"/>
            <a:ext cx="5154016" cy="310896"/>
          </a:xfrm>
          <a:prstGeom prst="roundRect">
            <a:avLst>
              <a:gd name="adj" fmla="val 23529"/>
            </a:avLst>
          </a:prstGeom>
          <a:solidFill>
            <a:srgbClr val="14100A"/>
          </a:solidFill>
          <a:ln w="12700">
            <a:solidFill>
              <a:srgbClr val="4E3F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" y="414223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41B0C"/>
          </a:solidFill>
          <a:ln w="12700">
            <a:solidFill>
              <a:srgbClr val="4E3F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4142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A64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70432" y="4096512"/>
            <a:ext cx="456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Tempo L1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validator fee · can blocklist you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" y="4453128"/>
            <a:ext cx="5154016" cy="310896"/>
          </a:xfrm>
          <a:prstGeom prst="roundRect">
            <a:avLst>
              <a:gd name="adj" fmla="val 23529"/>
            </a:avLst>
          </a:prstGeom>
          <a:solidFill>
            <a:srgbClr val="14100A"/>
          </a:solidFill>
          <a:ln w="12700">
            <a:solidFill>
              <a:srgbClr val="4E3F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" y="449884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41B0C"/>
          </a:solidFill>
          <a:ln w="12700">
            <a:solidFill>
              <a:srgbClr val="4E3F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44988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A64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70432" y="4453128"/>
            <a:ext cx="456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Stripe balance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held by Stripe — not your wallet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" y="4809744"/>
            <a:ext cx="5154016" cy="310896"/>
          </a:xfrm>
          <a:prstGeom prst="roundRect">
            <a:avLst>
              <a:gd name="adj" fmla="val 23529"/>
            </a:avLst>
          </a:prstGeom>
          <a:solidFill>
            <a:srgbClr val="15181C"/>
          </a:solidFill>
          <a:ln w="12700">
            <a:solidFill>
              <a:srgbClr val="2E34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" y="48554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A1E22"/>
          </a:solidFill>
          <a:ln w="12700">
            <a:solidFill>
              <a:srgbClr val="2E34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48554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C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✓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70432" y="4809744"/>
            <a:ext cx="456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Your bank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payout ~T+2 days · ~1% FX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87552" y="5230368"/>
            <a:ext cx="4605376" cy="420624"/>
          </a:xfrm>
          <a:prstGeom prst="roundRect">
            <a:avLst>
              <a:gd name="adj" fmla="val 17391"/>
            </a:avLst>
          </a:prstGeom>
          <a:solidFill>
            <a:srgbClr val="0E0F12"/>
          </a:solidFill>
          <a:ln w="12700">
            <a:solidFill>
              <a:srgbClr val="4E3F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33856" y="5230368"/>
            <a:ext cx="43310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A64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Held by Stripe the whole way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3 fee points  ·  spendable in days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24448" y="2304288"/>
            <a:ext cx="5154016" cy="3456432"/>
          </a:xfrm>
          <a:prstGeom prst="roundRect">
            <a:avLst>
              <a:gd name="adj" fmla="val 3439"/>
            </a:avLst>
          </a:prstGeom>
          <a:solidFill>
            <a:srgbClr val="0C1611"/>
          </a:solidFill>
          <a:ln w="12700">
            <a:solidFill>
              <a:srgbClr val="2E5A48"/>
            </a:solidFill>
            <a:prstDash val="solid"/>
          </a:ln>
          <a:effectLst>
            <a:outerShdw sx="100000" sy="100000" kx="0" ky="0" algn="bl" rotWithShape="0" blurRad="381000" dist="50800" dir="5400000">
              <a:srgbClr val="2EE6A6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98768" y="2542032"/>
            <a:ext cx="2011680" cy="310896"/>
          </a:xfrm>
          <a:prstGeom prst="roundRect">
            <a:avLst>
              <a:gd name="adj" fmla="val 26471"/>
            </a:avLst>
          </a:prstGeom>
          <a:solidFill>
            <a:srgbClr val="0E1714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35344" y="254203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6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SELF-CUSTODY PATH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649663" y="2542032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0E1714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49663" y="253746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5EE6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 — DIRECT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98768" y="2962656"/>
            <a:ext cx="460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PipRail</a:t>
            </a:r>
            <a:pPr indent="0" marL="0">
              <a:buNone/>
            </a:pPr>
            <a:r>
              <a:rPr lang="en-US" sz="14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x402, wallet-to-wallet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324448" y="3383280"/>
            <a:ext cx="5154016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3320" y="34838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0A1F16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3320" y="34838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81648" y="3383280"/>
            <a:ext cx="456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Agent’s own wallet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no account · no sign-up · any chain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25616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D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24448" y="4041648"/>
            <a:ext cx="5154016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43320" y="414223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0A1F16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3320" y="4142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81648" y="4041648"/>
            <a:ext cx="456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Direct on-chain transfer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0% protocol fee · no custody (gasless optional)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25616" y="44439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D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324448" y="4700016"/>
            <a:ext cx="5154016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43320" y="48006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0A1F16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3320" y="48006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✓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781648" y="4700016"/>
            <a:ext cx="456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Your own wallet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funds already there · one atomic tx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598768" y="5230368"/>
            <a:ext cx="4605376" cy="420624"/>
          </a:xfrm>
          <a:prstGeom prst="roundRect">
            <a:avLst>
              <a:gd name="adj" fmla="val 17391"/>
            </a:avLst>
          </a:prstGeom>
          <a:solidFill>
            <a:srgbClr val="0E0F12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45072" y="5230368"/>
            <a:ext cx="43310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E6A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Held by nobody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7CC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0% protocol fee  ·  spendable in one transaction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885536" y="3822192"/>
            <a:ext cx="420624" cy="420624"/>
          </a:xfrm>
          <a:prstGeom prst="ellipse">
            <a:avLst/>
          </a:prstGeom>
          <a:solidFill>
            <a:srgbClr val="0A0B0C"/>
          </a:solidFill>
          <a:ln w="19050">
            <a:solidFill>
              <a:srgbClr val="2E34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85536" y="3813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8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vs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13232" y="5888736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Shown: MPP’s Stripe-fronted Tempo / card path. * Stripe’s standard fees, not an MPP protocol toll — MPP also defines self-custodial rails.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DISCOVERY + INTEGRATIONS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Payable isn’t the same as findable — </a:t>
            </a:r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PipRail is both.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endpoints discoverable on the open x402 indexes — nothing PipRail-hosted — and drop the whole thing into the frameworks agents already live in.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2249424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B717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BACKENDLESS — ON THE OPEN x402 INDEXES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2651760"/>
            <a:ext cx="5760720" cy="969264"/>
          </a:xfrm>
          <a:prstGeom prst="roundRect">
            <a:avLst>
              <a:gd name="adj" fmla="val 9434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0976" y="2651760"/>
            <a:ext cx="4572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D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17904" y="2834640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Emit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17904" y="3200400"/>
            <a:ext cx="471830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gate config → a crawlable openapi.json on your own origin.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13232" y="3785616"/>
            <a:ext cx="5760720" cy="969264"/>
          </a:xfrm>
          <a:prstGeom prst="roundRect">
            <a:avLst>
              <a:gd name="adj" fmla="val 9434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" y="3785616"/>
            <a:ext cx="4572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D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17904" y="3968496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Register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17904" y="4334256"/>
            <a:ext cx="471830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client.register(url) lists you on the open 402 Index — no auth, no fee.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13232" y="4919472"/>
            <a:ext cx="5760720" cy="969264"/>
          </a:xfrm>
          <a:prstGeom prst="roundRect">
            <a:avLst>
              <a:gd name="adj" fmla="val 9434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" y="4919472"/>
            <a:ext cx="4572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D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17904" y="510235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Discover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517904" y="5468112"/>
            <a:ext cx="471830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client.discover({ query }) reads the open indexes so agents find you.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931152" y="2249424"/>
            <a:ext cx="454731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B717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USE IT WHERE YOUR AGENTS 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31152" y="2651760"/>
            <a:ext cx="4547311" cy="1792224"/>
          </a:xfrm>
          <a:prstGeom prst="roundRect">
            <a:avLst>
              <a:gd name="adj" fmla="val 6122"/>
            </a:avLst>
          </a:prstGeom>
          <a:solidFill>
            <a:srgbClr val="0E1411"/>
          </a:solidFill>
          <a:ln w="12700">
            <a:solidFill>
              <a:srgbClr val="224134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2852928"/>
            <a:ext cx="39620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OpenClaw</a:t>
            </a:r>
            <a:pPr indent="0" marL="0">
              <a:buNone/>
            </a:pPr>
            <a:r>
              <a:rPr lang="en-US" sz="160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    LIVE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3291840"/>
            <a:ext cx="396209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budget-bound wallet for any OpenClaw agent across 29 chains — one ClawHub skill, one mcp.servers entry.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223760" y="3950208"/>
            <a:ext cx="3962095" cy="365760"/>
          </a:xfrm>
          <a:prstGeom prst="roundRect">
            <a:avLst>
              <a:gd name="adj" fmla="val 17500"/>
            </a:avLst>
          </a:prstGeom>
          <a:solidFill>
            <a:srgbClr val="08120E"/>
          </a:solidFill>
          <a:ln w="12700">
            <a:solidFill>
              <a:srgbClr val="2241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0064" y="3950208"/>
            <a:ext cx="372435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5EE6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clawhub install piprail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31152" y="4663440"/>
            <a:ext cx="454731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B717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MORE COMING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31152" y="4956048"/>
            <a:ext cx="1393850" cy="438912"/>
          </a:xfrm>
          <a:prstGeom prst="roundRect">
            <a:avLst>
              <a:gd name="adj" fmla="val 18750"/>
            </a:avLst>
          </a:prstGeom>
          <a:solidFill>
            <a:srgbClr val="121417"/>
          </a:solidFill>
          <a:ln w="12700">
            <a:solidFill>
              <a:srgbClr val="2E34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7728" y="4956048"/>
            <a:ext cx="132069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Vercel AI SDK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7882" y="4956048"/>
            <a:ext cx="1393850" cy="438912"/>
          </a:xfrm>
          <a:prstGeom prst="roundRect">
            <a:avLst>
              <a:gd name="adj" fmla="val 18750"/>
            </a:avLst>
          </a:prstGeom>
          <a:solidFill>
            <a:srgbClr val="121417"/>
          </a:solidFill>
          <a:ln w="12700">
            <a:solidFill>
              <a:srgbClr val="2E34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4458" y="4956048"/>
            <a:ext cx="132069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Mastra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84613" y="4956048"/>
            <a:ext cx="1393850" cy="438912"/>
          </a:xfrm>
          <a:prstGeom prst="roundRect">
            <a:avLst>
              <a:gd name="adj" fmla="val 18750"/>
            </a:avLst>
          </a:prstGeom>
          <a:solidFill>
            <a:srgbClr val="121417"/>
          </a:solidFill>
          <a:ln w="12700">
            <a:solidFill>
              <a:srgbClr val="2E34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21189" y="4956048"/>
            <a:ext cx="132069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CD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ElizaOS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31152" y="5522976"/>
            <a:ext cx="454731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wraps @piprail/mcp — the agent gets all seven tools, budget-bound, straight to your wallet.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WHY PIPRAIL WINS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Everyone else is per-ecosystem. </a:t>
            </a:r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PipRail is the neutral layer.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151790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Coinbase’s SDK and the reference clients are Base/EVM-first and single-ecosystem. PipRail is the one rail that sits across all of them — and nothing else combines all five.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2286000"/>
            <a:ext cx="3417722" cy="1700784"/>
          </a:xfrm>
          <a:prstGeom prst="roundRect">
            <a:avLst>
              <a:gd name="adj" fmla="val 5914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52374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5237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99616" y="2542032"/>
            <a:ext cx="241188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Universal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3127248"/>
            <a:ext cx="297881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only truly chain-agnostic x402 SDK — including the non-EVM world no one else touches.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6986" y="2286000"/>
            <a:ext cx="3417722" cy="1700784"/>
          </a:xfrm>
          <a:prstGeom prst="roundRect">
            <a:avLst>
              <a:gd name="adj" fmla="val 5914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6442" y="252374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6442" y="25237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73370" y="2542032"/>
            <a:ext cx="241188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Backendless · $0 fee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6442" y="3127248"/>
            <a:ext cx="297881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facilitator, no custody, no cut. The 0% rail is the moat — chains fund it, not fight 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0741" y="2286000"/>
            <a:ext cx="3417722" cy="1700784"/>
          </a:xfrm>
          <a:prstGeom prst="roundRect">
            <a:avLst>
              <a:gd name="adj" fmla="val 5914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0197" y="252374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0197" y="25237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47125" y="2542032"/>
            <a:ext cx="241188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Agent-native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80197" y="3127248"/>
            <a:ext cx="297881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MCP server + a spend policy the model can’t exceed. Built for autonomy.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4224528"/>
            <a:ext cx="5254600" cy="1700784"/>
          </a:xfrm>
          <a:prstGeom prst="roundRect">
            <a:avLst>
              <a:gd name="adj" fmla="val 5914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" y="44622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99616" y="4480560"/>
            <a:ext cx="424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Open — MIT, forever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" y="5065776"/>
            <a:ext cx="481568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driver, the SDK, the MCP. Fork it, audit it, ship it.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23864" y="4224528"/>
            <a:ext cx="5254600" cy="1700784"/>
          </a:xfrm>
          <a:prstGeom prst="roundRect">
            <a:avLst>
              <a:gd name="adj" fmla="val 5914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3320" y="44622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1A15"/>
          </a:solidFill>
          <a:ln w="12700">
            <a:solidFill>
              <a:srgbClr val="2E5A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3320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⚡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10248" y="4480560"/>
            <a:ext cx="424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Live, not a whitepaper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3320" y="5065776"/>
            <a:ext cx="481568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Mainnet-proven across 29 chains. Two npm packages shipping today.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ALREADY SHIPPING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This isn’t a whitepaper. </a:t>
            </a:r>
            <a:pPr algn="l" indent="0" marL="0">
              <a:lnSpc>
                <a:spcPct val="102000"/>
              </a:lnSpc>
              <a:buNone/>
            </a:pPr>
            <a:r>
              <a:rPr lang="en-US" sz="29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It’s live.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3232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packages on npm, mainnet-proven across every chain it ships, an MCP in the official registry, and the first framework integration already live.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2340864"/>
            <a:ext cx="3429914" cy="1591056"/>
          </a:xfrm>
          <a:prstGeom prst="roundRect">
            <a:avLst>
              <a:gd name="adj" fmla="val 632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5786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2487168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@piprail/sdk + /mcp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3017520"/>
            <a:ext cx="299100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live on npm. Publishing is tag-driven, signed CI — never by hand.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380890" y="2340864"/>
            <a:ext cx="3429914" cy="1591056"/>
          </a:xfrm>
          <a:prstGeom prst="roundRect">
            <a:avLst>
              <a:gd name="adj" fmla="val 632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0346" y="25786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11" name="Text 9"/>
          <p:cNvSpPr/>
          <p:nvPr/>
        </p:nvSpPr>
        <p:spPr>
          <a:xfrm>
            <a:off x="4838090" y="2487168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29 chains, mainnet-proven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00346" y="3017520"/>
            <a:ext cx="299100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402 → pay → verify → 200 round trips on live mainnets, with replay rejected.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48549" y="2340864"/>
            <a:ext cx="3429914" cy="1591056"/>
          </a:xfrm>
          <a:prstGeom prst="roundRect">
            <a:avLst>
              <a:gd name="adj" fmla="val 632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68005" y="25786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15" name="Text 13"/>
          <p:cNvSpPr/>
          <p:nvPr/>
        </p:nvSpPr>
        <p:spPr>
          <a:xfrm>
            <a:off x="8505749" y="2487168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MCP in the official registry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68005" y="3017520"/>
            <a:ext cx="299100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Auto-published via GitHub OIDC — listed + isLatest. Also on Glama.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13232" y="4151376"/>
            <a:ext cx="3429914" cy="1591056"/>
          </a:xfrm>
          <a:prstGeom prst="roundRect">
            <a:avLst>
              <a:gd name="adj" fmla="val 632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688" y="43891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4297680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OpenClaw — live on ClawHub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4828032"/>
            <a:ext cx="299100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clawhub install piprail, published under the @piprail org. Moderation: clean.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380890" y="4151376"/>
            <a:ext cx="3429914" cy="1591056"/>
          </a:xfrm>
          <a:prstGeom prst="roundRect">
            <a:avLst>
              <a:gd name="adj" fmla="val 632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00346" y="43891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23" name="Text 21"/>
          <p:cNvSpPr/>
          <p:nvPr/>
        </p:nvSpPr>
        <p:spPr>
          <a:xfrm>
            <a:off x="4838090" y="4297680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Live payable x402 demo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00346" y="4828032"/>
            <a:ext cx="299100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piprail.com/demo settles on Base mainnet — listed on x402scan + 402 Index.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8048549" y="4151376"/>
            <a:ext cx="3429914" cy="1591056"/>
          </a:xfrm>
          <a:prstGeom prst="roundRect">
            <a:avLst>
              <a:gd name="adj" fmla="val 632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68005" y="43891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/>
        </p:spPr>
      </p:sp>
      <p:sp>
        <p:nvSpPr>
          <p:cNvPr id="27" name="Text 25"/>
          <p:cNvSpPr/>
          <p:nvPr/>
        </p:nvSpPr>
        <p:spPr>
          <a:xfrm>
            <a:off x="8505749" y="4297680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MIT open source + docs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68005" y="4828032"/>
            <a:ext cx="299100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SDK + MCP + chain docs on docs.piprail.com. Fork, audit, ship.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rail stays free. </a:t>
            </a:r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value is the network on top.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 on the payment path is the moat — it’s why chains, agents and merchants adopt PipRail instead of routing around it. We monetize the layer around the free rail, never the payment itself.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2249424"/>
            <a:ext cx="10765231" cy="896112"/>
          </a:xfrm>
          <a:prstGeom prst="roundRect">
            <a:avLst>
              <a:gd name="adj" fmla="val 12245"/>
            </a:avLst>
          </a:prstGeom>
          <a:solidFill>
            <a:srgbClr val="0E1411"/>
          </a:solidFill>
          <a:ln w="12700">
            <a:solidFill>
              <a:srgbClr val="2E5A48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24140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FREE RAIL — MIT, 0% FOREVER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24128" y="2706624"/>
            <a:ext cx="65589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7CC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SDK, the MCP server, every chain driver — the distribution, the adoption flywheel, and the reason the ecosystem trusts it.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69503" y="241401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A1A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↓  value accrues 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3346704"/>
            <a:ext cx="2499284" cy="2249424"/>
          </a:xfrm>
          <a:prstGeom prst="roundRect">
            <a:avLst>
              <a:gd name="adj" fmla="val 447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3584448"/>
            <a:ext cx="1188720" cy="310896"/>
          </a:xfrm>
          <a:prstGeom prst="roundRect">
            <a:avLst>
              <a:gd name="adj" fmla="val 26471"/>
            </a:avLst>
          </a:prstGeom>
          <a:solidFill>
            <a:srgbClr val="0E1216"/>
          </a:solidFill>
          <a:ln w="12700">
            <a:solidFill>
              <a:srgbClr val="2A30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584448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E6A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TODAY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32688" y="4078224"/>
            <a:ext cx="20603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Ecosystem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4663440"/>
            <a:ext cx="20603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 sponsorships, grants and integration partnerships.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68548" y="3346704"/>
            <a:ext cx="2499284" cy="2249424"/>
          </a:xfrm>
          <a:prstGeom prst="roundRect">
            <a:avLst>
              <a:gd name="adj" fmla="val 447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88004" y="3584448"/>
            <a:ext cx="1188720" cy="310896"/>
          </a:xfrm>
          <a:prstGeom prst="roundRect">
            <a:avLst>
              <a:gd name="adj" fmla="val 26471"/>
            </a:avLst>
          </a:prstGeom>
          <a:solidFill>
            <a:srgbClr val="0E1216"/>
          </a:solidFill>
          <a:ln w="12700">
            <a:solidFill>
              <a:srgbClr val="2A30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4580" y="3584448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A1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NEXT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88004" y="4078224"/>
            <a:ext cx="20603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Managed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88004" y="4663440"/>
            <a:ext cx="20603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Hosted fleet budgets, analytics and SLAs for teams running many agents.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23864" y="3346704"/>
            <a:ext cx="2499284" cy="2249424"/>
          </a:xfrm>
          <a:prstGeom prst="roundRect">
            <a:avLst>
              <a:gd name="adj" fmla="val 447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3320" y="3584448"/>
            <a:ext cx="1188720" cy="310896"/>
          </a:xfrm>
          <a:prstGeom prst="roundRect">
            <a:avLst>
              <a:gd name="adj" fmla="val 26471"/>
            </a:avLst>
          </a:prstGeom>
          <a:solidFill>
            <a:srgbClr val="0E1216"/>
          </a:solidFill>
          <a:ln w="12700">
            <a:solidFill>
              <a:srgbClr val="2A30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9896" y="3584448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A1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NEXT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43320" y="4078224"/>
            <a:ext cx="20603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Discovery &amp; reputation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3320" y="4663440"/>
            <a:ext cx="20603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placement + trust scores from ungameable payment receipts.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79179" y="3346704"/>
            <a:ext cx="2499284" cy="2249424"/>
          </a:xfrm>
          <a:prstGeom prst="roundRect">
            <a:avLst>
              <a:gd name="adj" fmla="val 4472"/>
            </a:avLst>
          </a:prstGeom>
          <a:solidFill>
            <a:srgbClr val="121417"/>
          </a:solidFill>
          <a:ln w="12700">
            <a:solidFill>
              <a:srgbClr val="24282D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98635" y="3584448"/>
            <a:ext cx="1188720" cy="310896"/>
          </a:xfrm>
          <a:prstGeom prst="roundRect">
            <a:avLst>
              <a:gd name="adj" fmla="val 26471"/>
            </a:avLst>
          </a:prstGeom>
          <a:solidFill>
            <a:srgbClr val="0E1216"/>
          </a:solidFill>
          <a:ln w="12700">
            <a:solidFill>
              <a:srgbClr val="2A30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211" y="3584448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A1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POTENTIAL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98635" y="4078224"/>
            <a:ext cx="20603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Network token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98635" y="4663440"/>
            <a:ext cx="20603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Aligns chains, agents and merchants as the rail scales — not a toll.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ohn/Sites/piprail/.claude/skills/branding/design/deck/assets/logos/logo-no-backg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8" y="950976"/>
            <a:ext cx="512064" cy="512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1800" y="914400"/>
            <a:ext cx="2011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" kern="0" dirty="0">
                <a:solidFill>
                  <a:srgbClr val="F4F6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PipRail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011680"/>
            <a:ext cx="10765231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Own the payment rail for the</a:t>
            </a:r>
            <a:endParaRPr lang="en-US" sz="39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3900" dirty="0">
                <a:solidFill>
                  <a:srgbClr val="2EE6A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agent economy</a:t>
            </a:r>
            <a:pPr algn="ctr" indent="0" marL="0">
              <a:lnSpc>
                <a:spcPct val="104000"/>
              </a:lnSpc>
              <a:buNone/>
            </a:pPr>
            <a:r>
              <a:rPr lang="en-US" sz="3900" dirty="0">
                <a:solidFill>
                  <a:srgbClr val="F4F6F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.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1615288" y="3493008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B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PipRail is open, neutral and already live across 29 chains. We’re raising to go from “the best x402 SDK” to the default settlement layer every agent reaches for — and looking for the partners who want open payment rails to win on their network.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13232" y="4480560"/>
            <a:ext cx="3381146" cy="1298448"/>
          </a:xfrm>
          <a:prstGeom prst="roundRect">
            <a:avLst>
              <a:gd name="adj" fmla="val 8451"/>
            </a:avLst>
          </a:prstGeom>
          <a:solidFill>
            <a:srgbClr val="101216"/>
          </a:solidFill>
          <a:ln w="12700">
            <a:solidFill>
              <a:srgbClr val="2E343A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" y="4754880"/>
            <a:ext cx="301538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Invest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9264" y="5230368"/>
            <a:ext cx="286908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 coverage, hardening and an external audit.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05274" y="4480560"/>
            <a:ext cx="3381146" cy="1298448"/>
          </a:xfrm>
          <a:prstGeom prst="roundRect">
            <a:avLst>
              <a:gd name="adj" fmla="val 8451"/>
            </a:avLst>
          </a:prstGeom>
          <a:solidFill>
            <a:srgbClr val="101216"/>
          </a:solidFill>
          <a:ln w="12700">
            <a:solidFill>
              <a:srgbClr val="2E343A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88154" y="4754880"/>
            <a:ext cx="301538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Sponsor a chain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661306" y="5230368"/>
            <a:ext cx="286908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driver depth + support on your network.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97317" y="4480560"/>
            <a:ext cx="3381146" cy="1298448"/>
          </a:xfrm>
          <a:prstGeom prst="roundRect">
            <a:avLst>
              <a:gd name="adj" fmla="val 8451"/>
            </a:avLst>
          </a:prstGeom>
          <a:solidFill>
            <a:srgbClr val="101216"/>
          </a:solidFill>
          <a:ln w="12700">
            <a:solidFill>
              <a:srgbClr val="2E343A"/>
            </a:solidFill>
            <a:prstDash val="solid"/>
          </a:ln>
          <a:effectLst>
            <a:outerShdw sx="100000" sy="100000" kx="0" ky="0" algn="bl" rotWithShape="0" blurRad="114300" dist="63500" dir="5400000">
              <a:srgbClr val="000000">
                <a:alpha val="3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80197" y="4754880"/>
            <a:ext cx="301538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Integrate &amp; partner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353349" y="5230368"/>
            <a:ext cx="286908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PipRail to your agents, docs and ecosystem.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3232" y="5989320"/>
            <a:ext cx="107652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EE6A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piprail.com</a:t>
            </a:r>
            <a:pPr algn="ctr" indent="0" marL="0">
              <a:buNone/>
            </a:pPr>
            <a:r>
              <a:rPr lang="en-US" sz="1250" dirty="0">
                <a:solidFill>
                  <a:srgbClr val="C7CC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github.com/piprail</a:t>
            </a:r>
            <a:pPr algn="ctr" indent="0" marL="0">
              <a:buNone/>
            </a:pPr>
            <a:r>
              <a:rPr lang="en-US" sz="1250" dirty="0">
                <a:solidFill>
                  <a:srgbClr val="C7CC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npmjs.com/package/@piprail/sdk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13232" y="6473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CCD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PipRail</a:t>
            </a:r>
            <a:pPr algn="l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piprail.com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649663" y="6473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6B7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PipRail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PipRail — the universal payment rail for the agent economy</dc:title>
  <dc:subject>PptxGenJS Presentation</dc:subject>
  <dc:creator>PipRail</dc:creator>
  <cp:lastModifiedBy>PipRail</cp:lastModifiedBy>
  <cp:revision>1</cp:revision>
  <dcterms:created xsi:type="dcterms:W3CDTF">2026-06-22T16:18:49Z</dcterms:created>
  <dcterms:modified xsi:type="dcterms:W3CDTF">2026-06-22T16:18:49Z</dcterms:modified>
</cp:coreProperties>
</file>